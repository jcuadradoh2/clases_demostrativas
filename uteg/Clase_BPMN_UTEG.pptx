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Agradezco al comité por la invitación. Hoy les comparto una clase de Software de Procesos sobre el modelado con BPMN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presento: nombre, formación y experiencia (máximo 2 minutos). Luego explico la ruta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general y tres logros: comprender, identificar y aplicar.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detonante: que respondan en el chat de Zoom. Luego la definición y las tres razones.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Eventos = círculos, tareas = rectángulos, flechas =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Exclusiva X: uno. Paralela +: todos. Inclusiva O: uno o varios.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 = la organización; lanes = los roles. Mostrar el cambio de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Bizagi para analistas, Camunda para desarrolladores, Lucidchart/bpmn.io para colaborar.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diagrama de izquierda a derecha. Luego abrir recurso.html para el recorrido interactivo.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ideas clave y un reto para practicar.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Cambiar a la ventana de Mentimeter y compartir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en formato APA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Ronda de preguntas: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UTEG_PORTAD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UTEG_CONTENIDO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TEG_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TEG_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301752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spc="100" kern="0" dirty="0">
                <a:solidFill>
                  <a:srgbClr val="33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PROCESOS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65760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2: MODELADO DE PROCESOS CON NOTACIÓN BPMN 2.0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4114800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Jefferson Alejandro Cuadrado Hidalgo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45262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demostrativa · 05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ASPIRANTE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754880" cy="4526280"/>
          </a:xfrm>
          <a:prstGeom prst="roundRect">
            <a:avLst>
              <a:gd name="adj" fmla="val 2424"/>
            </a:avLst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23160" y="178308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0340" y="20802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Jefferson Alejandro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Cuadrado Hidalgo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023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aspirante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Software de Procesos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Modalidad: clase virtual sincrónica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4630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la clase (15 min)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852160" y="2011680"/>
            <a:ext cx="457200" cy="45720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6609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Introducción: ¿qué es BPMN 2.0?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0" y="26609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52160" y="3310128"/>
            <a:ext cx="457200" cy="45720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5216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3310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Desarrollo: elementos, compuertas, pools y caso práctico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0" y="33101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852160" y="3959352"/>
            <a:ext cx="457200" cy="45720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521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3959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332720" y="3959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852160" y="4608576"/>
            <a:ext cx="457200" cy="45720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85216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4608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en Mentimeter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0332720" y="46085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852160" y="5257800"/>
            <a:ext cx="457200" cy="45720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8521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492240" y="5257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preguntas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32720" y="5257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+ 5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 w="12700">
            <a:solidFill>
              <a:srgbClr val="FFF6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731520" cy="73152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50876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clase: </a:t>
            </a:r>
            <a:pPr indent="0" marL="0">
              <a:buNone/>
            </a:pPr>
            <a:r>
              <a:rPr lang="en-US" sz="18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un proceso empresarial sencillo con la notación BPMN 2.0, identificando correctamente eventos, tareas, compuertas, pools y lanes.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3538728" cy="27432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0" y="3017520"/>
            <a:ext cx="777240" cy="77724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90" y="321183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931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es BPMN 2.0 y por qué es el estándar de la industria.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25112" y="2788920"/>
            <a:ext cx="3538728" cy="27432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96712" y="3017520"/>
            <a:ext cx="777240" cy="77724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022" y="321183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53712" y="3931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599432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eventos, tareas, compuertas, pools y lanes por su símbolo.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010144" y="2788920"/>
            <a:ext cx="3538728" cy="27432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381744" y="3017520"/>
            <a:ext cx="777240" cy="77724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6054" y="3211830"/>
            <a:ext cx="388620" cy="3886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38744" y="3931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8284464" y="443484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el diagrama de un proceso real: la aprobación de un crédito.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INTRODUCCIÓN: ¿QUÉ ES BPMN 2.0?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50876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explicarías el proceso de pedir un crédito para que lo entiendan, al mismo tiempo, el gerente y el programador?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</a:t>
            </a:r>
            <a:pPr indent="0" marL="0">
              <a:buNone/>
            </a:pPr>
            <a:r>
              <a:rPr lang="en-US" sz="18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(Business Process Model and Notation) es un lenguaje gráfico estándar para dibujar procesos de negocio.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657600"/>
            <a:ext cx="640080" cy="64008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817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internacional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Mantenido por el OMG (versión 2.0.2, 2013) y adoptado como norma ISO/IEC 19510.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325112" y="34747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53712" y="3657600"/>
            <a:ext cx="640080" cy="64008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38176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30952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puente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553712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diagrama lo leen el negocio y el área de tecnología.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010144" y="347472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38744" y="3657600"/>
            <a:ext cx="640080" cy="64008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38176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15984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Ejecutable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38744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guarda en XML y puede automatizarse en un motor de procesos.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TAREAS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(círculos): algo que ocurre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E6F4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2024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606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delgado. Dispara el proceso.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474720"/>
            <a:ext cx="640080" cy="640080"/>
          </a:xfrm>
          <a:prstGeom prst="ellipse">
            <a:avLst/>
          </a:prstGeom>
          <a:solidFill>
            <a:srgbClr val="FFF6E0"/>
          </a:solidFill>
          <a:ln w="19050">
            <a:solidFill>
              <a:srgbClr val="B78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9" y="3545129"/>
            <a:ext cx="499262" cy="499262"/>
          </a:xfrm>
          <a:prstGeom prst="ellipse">
            <a:avLst/>
          </a:prstGeom>
          <a:ln w="19050">
            <a:solidFill>
              <a:srgbClr val="B784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7947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doble. Una espera o un mensaje a mitad del proceso.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663440"/>
            <a:ext cx="640080" cy="640080"/>
          </a:xfrm>
          <a:prstGeom prst="ellipse">
            <a:avLst/>
          </a:prstGeom>
          <a:solidFill>
            <a:srgbClr val="FDECEA"/>
          </a:solidFill>
          <a:ln w="508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4617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9834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grueso. El resultado final.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9632" y="141732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(rectángulos): el trabajo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22402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historial crediticio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194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concreta que realiza una persona o un sistema. Se nombra con verbo + objeto.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secuencia (flecha): el orden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06540" y="4229100"/>
            <a:ext cx="411480" cy="411480"/>
          </a:xfrm>
          <a:prstGeom prst="ellipse">
            <a:avLst/>
          </a:prstGeom>
          <a:solidFill>
            <a:srgbClr val="E6F4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4434840"/>
            <a:ext cx="429768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452360" y="411480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solicitud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4434840"/>
            <a:ext cx="45720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326880" y="411480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historial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744200" y="4434840"/>
            <a:ext cx="27432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1036808" y="4251960"/>
            <a:ext cx="365760" cy="365760"/>
          </a:xfrm>
          <a:prstGeom prst="ellipse">
            <a:avLst/>
          </a:prstGeom>
          <a:solidFill>
            <a:srgbClr val="FDECEA"/>
          </a:solidFill>
          <a:ln w="508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28232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los elementos e indica qué pasa primero y qué después.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COMPUERTAS: LAS DECISIONES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compuerta (rombo) divide o une caminos. El símbolo interior dice cómo.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06524" y="2240280"/>
            <a:ext cx="1005840" cy="1005840"/>
          </a:xfrm>
          <a:prstGeom prst="diamond">
            <a:avLst/>
          </a:prstGeom>
          <a:solidFill>
            <a:srgbClr val="FFF7D6"/>
          </a:solidFill>
          <a:ln w="19050">
            <a:solidFill>
              <a:srgbClr val="C994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6524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camino.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4709160"/>
            <a:ext cx="30815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75488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ctr" indent="0" marL="0">
              <a:buNone/>
            </a:pPr>
            <a:r>
              <a:rPr lang="en-US" sz="15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¿Cumple requisitos? → Sí o No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25112" y="196596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1556" y="2240280"/>
            <a:ext cx="1005840" cy="1005840"/>
          </a:xfrm>
          <a:prstGeom prst="diamond">
            <a:avLst/>
          </a:prstGeom>
          <a:solidFill>
            <a:srgbClr val="FFF7D6"/>
          </a:solidFill>
          <a:ln w="19050">
            <a:solidFill>
              <a:srgbClr val="C994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1556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3429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393192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caminos, a la vez.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53712" y="4709160"/>
            <a:ext cx="30815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45152" y="475488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ctr" indent="0" marL="0">
              <a:buNone/>
            </a:pPr>
            <a:r>
              <a:rPr lang="en-US" sz="15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contrato y notificar al cliente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10144" y="196596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6588" y="2240280"/>
            <a:ext cx="1005840" cy="1005840"/>
          </a:xfrm>
          <a:prstGeom prst="diamond">
            <a:avLst/>
          </a:prstGeom>
          <a:solidFill>
            <a:srgbClr val="FFF7D6"/>
          </a:solidFill>
          <a:ln w="19050">
            <a:solidFill>
              <a:srgbClr val="C99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68282" y="2531974"/>
            <a:ext cx="422453" cy="422453"/>
          </a:xfrm>
          <a:prstGeom prst="ellipse">
            <a:avLst/>
          </a:prstGeom>
          <a:ln w="28575">
            <a:solidFill>
              <a:srgbClr val="1F3A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3024" y="3429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Inclusiva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238744" y="393192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o VARIOS caminos, según condiciones.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238744" y="4709160"/>
            <a:ext cx="30815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0184" y="4754880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pPr algn="ctr" indent="0" marL="0">
              <a:buNone/>
            </a:pPr>
            <a:r>
              <a:rPr lang="en-US" sz="15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por SMS, por correo o por ambos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ORGANIZADORES: POOLS Y LANES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37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(piscina)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participante completo: una empresa o un sistema.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74904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977640"/>
            <a:ext cx="685800" cy="68580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4149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(carril)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754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pool por roles o departamentos: quién hace cada tarea.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29200" y="1508760"/>
            <a:ext cx="6519672" cy="4251960"/>
          </a:xfrm>
          <a:prstGeom prst="rect">
            <a:avLst/>
          </a:prstGeom>
          <a:solidFill>
            <a:srgbClr val="FFFFFF"/>
          </a:solidFill>
          <a:ln w="15875">
            <a:solidFill>
              <a:srgbClr val="7A8C9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0" y="1508760"/>
            <a:ext cx="411480" cy="4251960"/>
          </a:xfrm>
          <a:prstGeom prst="rect">
            <a:avLst/>
          </a:prstGeom>
          <a:solidFill>
            <a:srgbClr val="DCE6F0"/>
          </a:solidFill>
          <a:ln w="15875">
            <a:solidFill>
              <a:srgbClr val="7A8C9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 rot="16200000">
            <a:off x="3108960" y="34290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en línea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40680" y="1508760"/>
            <a:ext cx="411480" cy="2125980"/>
          </a:xfrm>
          <a:prstGeom prst="rect">
            <a:avLst/>
          </a:prstGeom>
          <a:solidFill>
            <a:srgbClr val="EDF2F7"/>
          </a:solidFill>
          <a:ln w="12700">
            <a:solidFill>
              <a:srgbClr val="7A8C9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 rot="16200000">
            <a:off x="4583430" y="2366010"/>
            <a:ext cx="2125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40680" y="3634740"/>
            <a:ext cx="411480" cy="2125980"/>
          </a:xfrm>
          <a:prstGeom prst="rect">
            <a:avLst/>
          </a:prstGeom>
          <a:solidFill>
            <a:srgbClr val="EDF2F7"/>
          </a:solidFill>
          <a:ln w="12700">
            <a:solidFill>
              <a:srgbClr val="7A8C9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 rot="16200000">
            <a:off x="4583430" y="4491990"/>
            <a:ext cx="2125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852160" y="3634740"/>
            <a:ext cx="5696712" cy="0"/>
          </a:xfrm>
          <a:prstGeom prst="line">
            <a:avLst/>
          </a:prstGeom>
          <a:noFill/>
          <a:ln w="12700">
            <a:solidFill>
              <a:srgbClr val="7A8C9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66460" y="2366010"/>
            <a:ext cx="411480" cy="411480"/>
          </a:xfrm>
          <a:prstGeom prst="ellipse">
            <a:avLst/>
          </a:prstGeom>
          <a:solidFill>
            <a:srgbClr val="E6F4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82512" y="2571750"/>
            <a:ext cx="566928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6949440" y="220599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pedido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726680" y="2937510"/>
            <a:ext cx="91" cy="1394460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6949440" y="433197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Despachar pedido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503920" y="4697730"/>
            <a:ext cx="45720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7" name="Text 23"/>
          <p:cNvSpPr/>
          <p:nvPr/>
        </p:nvSpPr>
        <p:spPr>
          <a:xfrm>
            <a:off x="8961120" y="433197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al cliente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424160" y="4697730"/>
            <a:ext cx="301752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10721340" y="4491990"/>
            <a:ext cx="411480" cy="411480"/>
          </a:xfrm>
          <a:prstGeom prst="ellipse">
            <a:avLst/>
          </a:prstGeom>
          <a:solidFill>
            <a:srgbClr val="FDECEA"/>
          </a:solidFill>
          <a:ln w="50800">
            <a:solidFill>
              <a:srgbClr val="C6282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0" y="281863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recibido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10332720" y="494461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entregado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029200" y="5806440"/>
            <a:ext cx="6519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tarea cambia de carril, cambia el responsable.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SOFTWARE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38728" cy="3840480"/>
          </a:xfrm>
          <a:prstGeom prst="roundRect">
            <a:avLst>
              <a:gd name="adj" fmla="val 310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691640"/>
            <a:ext cx="777240" cy="77724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990" y="18859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Bizagi Modeler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analistas de negocio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20440"/>
            <a:ext cx="2990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Modelador de escritorio gratuito. Documenta y simula procesos. Es el estilo de diagrama que usaremos hoy.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25112" y="1463040"/>
            <a:ext cx="3538728" cy="3840480"/>
          </a:xfrm>
          <a:prstGeom prst="roundRect">
            <a:avLst>
              <a:gd name="adj" fmla="val 310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96712" y="1691640"/>
            <a:ext cx="777240" cy="77724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022" y="18859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60604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3063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desarrolladores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520440"/>
            <a:ext cx="2990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Modelador gratuito y motor que ejecuta el diagrama: lo convierte en un proceso automatizado.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010144" y="1463040"/>
            <a:ext cx="3538728" cy="3840480"/>
          </a:xfrm>
          <a:prstGeom prst="roundRect">
            <a:avLst>
              <a:gd name="adj" fmla="val 310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81744" y="1691640"/>
            <a:ext cx="777240" cy="77724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054" y="188595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4" y="260604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Lucidchart / bpmn.io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193024" y="3063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colaborar en la web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284464" y="3520440"/>
            <a:ext cx="2990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desde el navegador, ideal para trabajar en equipo y hacer bocetos rápidos.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5486400"/>
            <a:ext cx="10908792" cy="594360"/>
          </a:xfrm>
          <a:prstGeom prst="roundRect">
            <a:avLst>
              <a:gd name="adj" fmla="val 18462"/>
            </a:avLst>
          </a:prstGeom>
          <a:solidFill>
            <a:srgbClr val="FFF6DD"/>
          </a:solidFill>
          <a:ln w="12700">
            <a:solidFill>
              <a:srgbClr val="FFF6D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usan los mismos símbolos BPMN 2.0: si aprendes la notación, cambias de herramienta sin volver a empezar.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PRÁCTICO: CRÉDITO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155680" cy="4718304"/>
          </a:xfrm>
          <a:prstGeom prst="rect">
            <a:avLst/>
          </a:prstGeom>
          <a:solidFill>
            <a:srgbClr val="FFFFFF"/>
          </a:solidFill>
          <a:ln w="15875">
            <a:solidFill>
              <a:srgbClr val="7A8C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" cy="4718304"/>
          </a:xfrm>
          <a:prstGeom prst="rect">
            <a:avLst/>
          </a:prstGeom>
          <a:solidFill>
            <a:srgbClr val="DCE6F0"/>
          </a:solidFill>
          <a:ln w="15875">
            <a:solidFill>
              <a:srgbClr val="7A8C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16200000">
            <a:off x="-1618488" y="3355848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 de Ahorro y Crédito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32688" y="1188720"/>
            <a:ext cx="384048" cy="1572768"/>
          </a:xfrm>
          <a:prstGeom prst="rect">
            <a:avLst/>
          </a:prstGeom>
          <a:solidFill>
            <a:srgbClr val="EDF2F7"/>
          </a:solidFill>
          <a:ln w="12700">
            <a:solidFill>
              <a:srgbClr val="7A8C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16200000">
            <a:off x="338328" y="1783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de crédito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" y="2761488"/>
            <a:ext cx="384048" cy="1572768"/>
          </a:xfrm>
          <a:prstGeom prst="rect">
            <a:avLst/>
          </a:prstGeom>
          <a:solidFill>
            <a:srgbClr val="EDF2F7"/>
          </a:solidFill>
          <a:ln w="12700">
            <a:solidFill>
              <a:srgbClr val="7A8C9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16200000">
            <a:off x="338328" y="335584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riesgo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16736" y="2761488"/>
            <a:ext cx="10387584" cy="0"/>
          </a:xfrm>
          <a:prstGeom prst="line">
            <a:avLst/>
          </a:prstGeom>
          <a:noFill/>
          <a:ln w="12700">
            <a:solidFill>
              <a:srgbClr val="7A8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4334256"/>
            <a:ext cx="384048" cy="1572768"/>
          </a:xfrm>
          <a:prstGeom prst="rect">
            <a:avLst/>
          </a:prstGeom>
          <a:solidFill>
            <a:srgbClr val="EDF2F7"/>
          </a:solidFill>
          <a:ln w="12700">
            <a:solidFill>
              <a:srgbClr val="7A8C9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 rot="16200000">
            <a:off x="338328" y="492861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16736" y="4334256"/>
            <a:ext cx="10387584" cy="0"/>
          </a:xfrm>
          <a:prstGeom prst="line">
            <a:avLst/>
          </a:prstGeom>
          <a:noFill/>
          <a:ln w="12700">
            <a:solidFill>
              <a:srgbClr val="7A8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1620" y="1769364"/>
            <a:ext cx="411480" cy="411480"/>
          </a:xfrm>
          <a:prstGeom prst="ellipse">
            <a:avLst/>
          </a:prstGeom>
          <a:solidFill>
            <a:srgbClr val="E6F4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22219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1600200"/>
            <a:ext cx="1371600" cy="749808"/>
          </a:xfrm>
          <a:prstGeom prst="roundRect">
            <a:avLst>
              <a:gd name="adj" fmla="val 12195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solicitud y documentos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47672" y="1975104"/>
            <a:ext cx="109728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057400" y="3172968"/>
            <a:ext cx="1371600" cy="749808"/>
          </a:xfrm>
          <a:prstGeom prst="roundRect">
            <a:avLst>
              <a:gd name="adj" fmla="val 12195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historial crediticio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2350008"/>
            <a:ext cx="91" cy="822960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3273552"/>
            <a:ext cx="548640" cy="548640"/>
          </a:xfrm>
          <a:prstGeom prst="diamond">
            <a:avLst/>
          </a:prstGeom>
          <a:solidFill>
            <a:srgbClr val="FFF7D6"/>
          </a:solidFill>
          <a:ln w="19050">
            <a:solidFill>
              <a:srgbClr val="C994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29000" y="3547872"/>
            <a:ext cx="77724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70332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¿Cumple requisitos?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1600200"/>
            <a:ext cx="1371600" cy="749808"/>
          </a:xfrm>
          <a:prstGeom prst="roundRect">
            <a:avLst>
              <a:gd name="adj" fmla="val 12195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rechazo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V="1">
            <a:off x="4480560" y="2350008"/>
            <a:ext cx="91" cy="923544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35424" y="2889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54980" y="1769364"/>
            <a:ext cx="411480" cy="411480"/>
          </a:xfrm>
          <a:prstGeom prst="ellipse">
            <a:avLst/>
          </a:prstGeom>
          <a:solidFill>
            <a:srgbClr val="FDECEA"/>
          </a:solidFill>
          <a:ln w="50800">
            <a:solidFill>
              <a:srgbClr val="C628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975104"/>
            <a:ext cx="384048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120640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rechazado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273552"/>
            <a:ext cx="548640" cy="548640"/>
          </a:xfrm>
          <a:prstGeom prst="diamond">
            <a:avLst/>
          </a:prstGeom>
          <a:solidFill>
            <a:srgbClr val="FFF7D6"/>
          </a:solidFill>
          <a:ln w="19050">
            <a:solidFill>
              <a:srgbClr val="C994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4754880" y="3547872"/>
            <a:ext cx="146304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846320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1600200"/>
            <a:ext cx="1371600" cy="749808"/>
          </a:xfrm>
          <a:prstGeom prst="roundRect">
            <a:avLst>
              <a:gd name="adj" fmla="val 12195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aprobación al cliente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flipV="1">
            <a:off x="6492240" y="1975104"/>
            <a:ext cx="91" cy="1298448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1975104"/>
            <a:ext cx="54864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040880" y="3172968"/>
            <a:ext cx="1371600" cy="749808"/>
          </a:xfrm>
          <a:prstGeom prst="roundRect">
            <a:avLst>
              <a:gd name="adj" fmla="val 12195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contrato de crédito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3547872"/>
            <a:ext cx="27432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823960" y="3273552"/>
            <a:ext cx="548640" cy="548640"/>
          </a:xfrm>
          <a:prstGeom prst="diamond">
            <a:avLst/>
          </a:prstGeom>
          <a:solidFill>
            <a:srgbClr val="FFF7D6"/>
          </a:solidFill>
          <a:ln w="19050">
            <a:solidFill>
              <a:srgbClr val="C994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82396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8412480" y="3547872"/>
            <a:ext cx="41148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412480" y="1975104"/>
            <a:ext cx="68580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98280" y="1975104"/>
            <a:ext cx="91" cy="1298448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9555480" y="4745736"/>
            <a:ext cx="1371600" cy="749808"/>
          </a:xfrm>
          <a:prstGeom prst="roundRect">
            <a:avLst>
              <a:gd name="adj" fmla="val 12195"/>
            </a:avLst>
          </a:prstGeom>
          <a:solidFill>
            <a:srgbClr val="EAF2FB"/>
          </a:solidFill>
          <a:ln w="15875">
            <a:solidFill>
              <a:srgbClr val="2F5C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Desembolsar crédito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098280" y="3822192"/>
            <a:ext cx="91" cy="1298448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98280" y="5120640"/>
            <a:ext cx="457200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1041380" y="4914900"/>
            <a:ext cx="411480" cy="411480"/>
          </a:xfrm>
          <a:prstGeom prst="ellipse">
            <a:avLst/>
          </a:prstGeom>
          <a:solidFill>
            <a:srgbClr val="FDECEA"/>
          </a:solidFill>
          <a:ln w="50800">
            <a:solidFill>
              <a:srgbClr val="C628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27080" y="5120640"/>
            <a:ext cx="109728" cy="91"/>
          </a:xfrm>
          <a:prstGeom prst="line">
            <a:avLst/>
          </a:prstGeom>
          <a:noFill/>
          <a:ln w="19050">
            <a:solidFill>
              <a:srgbClr val="333F48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10789920" y="53675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08792" cy="1143000"/>
          </a:xfrm>
          <a:prstGeom prst="roundRect">
            <a:avLst>
              <a:gd name="adj" fmla="val 96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64208"/>
            <a:ext cx="731520" cy="73152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470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5727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símbolos, mucho significado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99339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Círculos (eventos), rectángulos (tareas) y rombos (compuertas) bastan para contar casi cualquier proceso.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10908792" cy="1143000"/>
          </a:xfrm>
          <a:prstGeom prst="roundRect">
            <a:avLst>
              <a:gd name="adj" fmla="val 96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990088"/>
            <a:ext cx="731520" cy="73152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172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28986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visibles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33192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y lanes muestran quién hace qué y dónde cambia de manos el trabajo.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4114800"/>
            <a:ext cx="10908792" cy="1143000"/>
          </a:xfrm>
          <a:prstGeom prst="roundRect">
            <a:avLst>
              <a:gd name="adj" fmla="val 96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4315968"/>
            <a:ext cx="731520" cy="73152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9884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2245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dibujo al software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464515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diagrama BPMN bien hecho es la base para documentar, mejorar y automatizar.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B7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dibuja en Bizagi un proceso de tu trabajo o de la universidad usando al menos una compuerta.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EVALUACIÓN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06040" y="169164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0" y="19431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desde tu celular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menti.com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297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el código que aparece en la pantalla compartida o escanea el código QR.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anónimas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5696712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53328" y="1783080"/>
            <a:ext cx="731520" cy="73152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65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16002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de palabras · 1 min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201168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o dos palabras, ¿qué elemento de BPMN recuerdas de esta clase?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852160" y="3035808"/>
            <a:ext cx="5696712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53328" y="3355848"/>
            <a:ext cx="731520" cy="731520"/>
          </a:xfrm>
          <a:prstGeom prst="ellipse">
            <a:avLst/>
          </a:prstGeom>
          <a:solidFill>
            <a:srgbClr val="00538A"/>
          </a:solidFill>
          <a:ln w="12700">
            <a:solidFill>
              <a:srgbClr val="0053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5387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31729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con ranking · 2 min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949440" y="358444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 de opción múltiple sobre compuertas, lanes y el caso del crédito.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852160" y="4608576"/>
            <a:ext cx="5696712" cy="13716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53328" y="4928616"/>
            <a:ext cx="731520" cy="731520"/>
          </a:xfrm>
          <a:prstGeom prst="ellipse">
            <a:avLst/>
          </a:prstGeom>
          <a:solidFill>
            <a:srgbClr val="B78400"/>
          </a:solidFill>
          <a:ln w="12700">
            <a:solidFill>
              <a:srgbClr val="B784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511149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49440" y="474573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¿Sin celular?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6949440" y="515721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el chat de Zoom con la letra de tu opción.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0" y="320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BIBLIOGRÁFICAS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8488"/>
            <a:ext cx="384048" cy="38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463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Dumas, M., La Rosa, M., Mendling, J., &amp; Reijers, H. A. (2018). </a:t>
            </a:r>
            <a:pPr indent="0" marL="0">
              <a:buNone/>
            </a:pPr>
            <a:r>
              <a:rPr lang="en-US" sz="160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business process management</a:t>
            </a:r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(2.ª ed.). Springer. https://doi.org/10.1007/978-3-662-56509-4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4600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5915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 (2013). </a:t>
            </a:r>
            <a:pPr indent="0" marL="0">
              <a:buNone/>
            </a:pPr>
            <a:r>
              <a:rPr lang="en-US" sz="160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19510:2013 Information technology — Object Management Group Business Process Model and Notation</a:t>
            </a:r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ISO.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10712"/>
            <a:ext cx="384048" cy="38404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5526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Management Group. (2013). </a:t>
            </a:r>
            <a:pPr indent="0" marL="0">
              <a:buNone/>
            </a:pPr>
            <a:r>
              <a:rPr lang="en-US" sz="160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Model and Notation (BPMN), version 2.0.2</a:t>
            </a:r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https://www.omg.org/spec/BPMN/2.0.2/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06824"/>
            <a:ext cx="384048" cy="38404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513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Silver, B. (2011). </a:t>
            </a:r>
            <a:pPr indent="0" marL="0">
              <a:buNone/>
            </a:pPr>
            <a:r>
              <a:rPr lang="en-US" sz="160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method and style</a:t>
            </a:r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(2.ª ed.). Cody-Cassidy Press.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02936"/>
            <a:ext cx="384048" cy="38404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325880" y="5047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Weske, M. (2019). </a:t>
            </a:r>
            <a:pPr indent="0" marL="0">
              <a:buNone/>
            </a:pPr>
            <a:r>
              <a:rPr lang="en-US" sz="1600" i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management: Concepts, languages, architectures</a:t>
            </a:r>
            <a:pPr indent="0" marL="0">
              <a:buNone/>
            </a:pPr>
            <a:r>
              <a:rPr lang="en-US" sz="16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Springer. https://doi.org/10.1007/978-3-662-59432-2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59893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A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3017520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2286000" y="379476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 por su atención!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429768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Jefferson Alejandro Cuadrado Hidalgo · Software de Procesos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Modelado de procesos con BPMN 2.0</dc:title>
  <dc:subject>PptxGenJS Presentation</dc:subject>
  <dc:creator>MSc. Jefferson Alejandro Cuadrado Hidalgo</dc:creator>
  <cp:lastModifiedBy>MSc. Jefferson Alejandro Cuadrado Hidalgo</cp:lastModifiedBy>
  <cp:revision>1</cp:revision>
  <dcterms:created xsi:type="dcterms:W3CDTF">2026-10-04T21:50:32Z</dcterms:created>
  <dcterms:modified xsi:type="dcterms:W3CDTF">2026-10-04T21:50:32Z</dcterms:modified>
</cp:coreProperties>
</file>